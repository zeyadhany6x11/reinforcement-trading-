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856bdd5f24b9a" /><Relationship Type="http://schemas.openxmlformats.org/officeDocument/2006/relationships/extended-properties" Target="/docProps/app.xml" Id="R600ae905737f47e1" /><Relationship Type="http://schemas.openxmlformats.org/officeDocument/2006/relationships/officeDocument" Target="/ppt/presentation.xml" Id="Ra4d873dab858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6c96720ba4bbb"/>
  </p:sldMasterIdLst>
  <p:notesMasterIdLst>
    <p:notesMasterId xmlns:r="http://schemas.openxmlformats.org/officeDocument/2006/relationships" r:id="R5a8d5388b4954170"/>
  </p:notesMasterIdLst>
  <p:sldIdLst>
    <p:sldId xmlns:r="http://schemas.openxmlformats.org/officeDocument/2006/relationships" id="256" r:id="Racf36c1df14c4c39"/>
    <p:sldId xmlns:r="http://schemas.openxmlformats.org/officeDocument/2006/relationships" id="257" r:id="Re433033163424633"/>
    <p:sldId xmlns:r="http://schemas.openxmlformats.org/officeDocument/2006/relationships" id="258" r:id="R40ead559d28b48a1"/>
    <p:sldId xmlns:r="http://schemas.openxmlformats.org/officeDocument/2006/relationships" id="259" r:id="Ref32315bf5544563"/>
    <p:sldId xmlns:r="http://schemas.openxmlformats.org/officeDocument/2006/relationships" id="260" r:id="R213de5e5bd6b4f7e"/>
    <p:sldId xmlns:r="http://schemas.openxmlformats.org/officeDocument/2006/relationships" id="261" r:id="R3c88cd53033d43cc"/>
    <p:sldId xmlns:r="http://schemas.openxmlformats.org/officeDocument/2006/relationships" id="262" r:id="Raf304873b6484d67"/>
    <p:sldId xmlns:r="http://schemas.openxmlformats.org/officeDocument/2006/relationships" id="263" r:id="R6b8f15e0273a4030"/>
    <p:sldId xmlns:r="http://schemas.openxmlformats.org/officeDocument/2006/relationships" id="264" r:id="R05d8d883a44442bb"/>
    <p:sldId xmlns:r="http://schemas.openxmlformats.org/officeDocument/2006/relationships" id="265" r:id="R91122ee76cc449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6c96720ba4bbb" /><Relationship Type="http://schemas.openxmlformats.org/officeDocument/2006/relationships/theme" Target="/ppt/theme/theme1.xml" Id="R4187064ce41c41bb" /><Relationship Type="http://schemas.openxmlformats.org/officeDocument/2006/relationships/notesMaster" Target="/ppt/notesMasters/notesMaster1.xml" Id="R5a8d5388b4954170" /><Relationship Type="http://schemas.openxmlformats.org/officeDocument/2006/relationships/presProps" Target="/ppt/presProps.xml" Id="Reb01024f19dc4682" /><Relationship Type="http://schemas.openxmlformats.org/officeDocument/2006/relationships/viewProps" Target="/ppt/viewProps.xml" Id="R80e8163ed4494d32" /><Relationship Type="http://schemas.openxmlformats.org/officeDocument/2006/relationships/tableStyles" Target="/ppt/tableStyles.xml" Id="R01d956e6c1a54df4" /><Relationship Type="http://schemas.openxmlformats.org/officeDocument/2006/relationships/slide" Target="/ppt/slides/slide1.xml" Id="Racf36c1df14c4c39" /><Relationship Type="http://schemas.openxmlformats.org/officeDocument/2006/relationships/slide" Target="/ppt/slides/slide2.xml" Id="Re433033163424633" /><Relationship Type="http://schemas.openxmlformats.org/officeDocument/2006/relationships/slide" Target="/ppt/slides/slide3.xml" Id="R40ead559d28b48a1" /><Relationship Type="http://schemas.openxmlformats.org/officeDocument/2006/relationships/slide" Target="/ppt/slides/slide4.xml" Id="Ref32315bf5544563" /><Relationship Type="http://schemas.openxmlformats.org/officeDocument/2006/relationships/slide" Target="/ppt/slides/slide5.xml" Id="R213de5e5bd6b4f7e" /><Relationship Type="http://schemas.openxmlformats.org/officeDocument/2006/relationships/slide" Target="/ppt/slides/slide6.xml" Id="R3c88cd53033d43cc" /><Relationship Type="http://schemas.openxmlformats.org/officeDocument/2006/relationships/slide" Target="/ppt/slides/slide7.xml" Id="Raf304873b6484d67" /><Relationship Type="http://schemas.openxmlformats.org/officeDocument/2006/relationships/slide" Target="/ppt/slides/slide8.xml" Id="R6b8f15e0273a4030" /><Relationship Type="http://schemas.openxmlformats.org/officeDocument/2006/relationships/slide" Target="/ppt/slides/slide9.xml" Id="R05d8d883a44442bb" /><Relationship Type="http://schemas.openxmlformats.org/officeDocument/2006/relationships/slide" Target="/ppt/slides/slide10.xml" Id="R91122ee76cc449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b3ba963a0a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cd4eea43094095" /><Relationship Type="http://schemas.openxmlformats.org/officeDocument/2006/relationships/notesMaster" Target="/ppt/notesMasters/notesMaster1.xml" Id="R8d9dbb1281fd45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fec5a60b8e492b" /><Relationship Type="http://schemas.openxmlformats.org/officeDocument/2006/relationships/notesMaster" Target="/ppt/notesMasters/notesMaster1.xml" Id="Rc60290b6e3a74e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cf9d1c1c7f47fa" /><Relationship Type="http://schemas.openxmlformats.org/officeDocument/2006/relationships/notesMaster" Target="/ppt/notesMasters/notesMaster1.xml" Id="Rf0d23442a04a4b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98e0485924131" /><Relationship Type="http://schemas.openxmlformats.org/officeDocument/2006/relationships/notesMaster" Target="/ppt/notesMasters/notesMaster1.xml" Id="R6551fb94e6f347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b20e084ef4043" /><Relationship Type="http://schemas.openxmlformats.org/officeDocument/2006/relationships/notesMaster" Target="/ppt/notesMasters/notesMaster1.xml" Id="Rfcab1fdfc58544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a591bb52474dd5" /><Relationship Type="http://schemas.openxmlformats.org/officeDocument/2006/relationships/notesMaster" Target="/ppt/notesMasters/notesMaster1.xml" Id="Rcf0b91ea38b8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1d12e402c44344" /><Relationship Type="http://schemas.openxmlformats.org/officeDocument/2006/relationships/notesMaster" Target="/ppt/notesMasters/notesMaster1.xml" Id="Ra8c2fc5f807049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a16b3975524f78" /><Relationship Type="http://schemas.openxmlformats.org/officeDocument/2006/relationships/notesMaster" Target="/ppt/notesMasters/notesMaster1.xml" Id="R11993dc35f5045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32690ecf64437b" /><Relationship Type="http://schemas.openxmlformats.org/officeDocument/2006/relationships/notesMaster" Target="/ppt/notesMasters/notesMaster1.xml" Id="Rbc99c1fcb7c841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95a97142c84428" /><Relationship Type="http://schemas.openxmlformats.org/officeDocument/2006/relationships/notesMaster" Target="/ppt/notesMasters/notesMaster1.xml" Id="Ra835ae12a9d0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a44684af445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d12920e27c4231" /><Relationship Type="http://schemas.openxmlformats.org/officeDocument/2006/relationships/slideLayout" Target="/ppt/slideLayouts/slideLayout2.xml" Id="Rc47736aee741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736aee741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218775be44325" /><Relationship Type="http://schemas.openxmlformats.org/officeDocument/2006/relationships/notesSlide" Target="/ppt/notesSlides/notesSlide1.xml" Id="Rab4adc33bd574b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0a271c9ba24e4d" /><Relationship Type="http://schemas.openxmlformats.org/officeDocument/2006/relationships/notesSlide" Target="/ppt/notesSlides/notesSlide2.xml" Id="Ra03ddb5b6e3046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b4a9bc55b4212" /><Relationship Type="http://schemas.openxmlformats.org/officeDocument/2006/relationships/notesSlide" Target="/ppt/notesSlides/notesSlide3.xml" Id="Ra29457967a1f41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90b9036f154cea" /><Relationship Type="http://schemas.openxmlformats.org/officeDocument/2006/relationships/notesSlide" Target="/ppt/notesSlides/notesSlide4.xml" Id="Rf0916a2e0b4e40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5e3feee1da496d" /><Relationship Type="http://schemas.openxmlformats.org/officeDocument/2006/relationships/notesSlide" Target="/ppt/notesSlides/notesSlide5.xml" Id="R445f93408a5049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dcc0d14b04559" /><Relationship Type="http://schemas.openxmlformats.org/officeDocument/2006/relationships/notesSlide" Target="/ppt/notesSlides/notesSlide6.xml" Id="R928fd671468b44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971da732e4257" /><Relationship Type="http://schemas.openxmlformats.org/officeDocument/2006/relationships/notesSlide" Target="/ppt/notesSlides/notesSlide7.xml" Id="R42c95e8fe05e4f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6fd2a64c54ac4" /><Relationship Type="http://schemas.openxmlformats.org/officeDocument/2006/relationships/notesSlide" Target="/ppt/notesSlides/notesSlide8.xml" Id="R37c9bbf6b1f2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3e926f49534c31" /><Relationship Type="http://schemas.openxmlformats.org/officeDocument/2006/relationships/notesSlide" Target="/ppt/notesSlides/notesSlide9.xml" Id="Rbedc2279f15844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39be7af7e4439" /><Relationship Type="http://schemas.openxmlformats.org/officeDocument/2006/relationships/notesSlide" Target="/ppt/notesSlides/notesSlide10.xml" Id="R2c331b7542cc4c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8C82E-7BE8-4374-BC83-A85F3FE4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C49CF-7392-4083-9F18-6338F74D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93B-B005-4839-A7EA-3CDC3DBB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A1E14-4EFE-4997-840C-6A3D9A72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2F384-738A-4128-A873-86A25D8A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FFC1B-E428-411F-862B-55EDE37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6854C-0914-4D0F-90A3-39D0C7AB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FF31-A884-4BEE-AE6D-2A46B09A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2E23E-8629-4497-AA2A-F007FE8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56690-1364-470F-9C4F-F632302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B1FF2-7364-4D3B-BA6B-DCB2B4E7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6C4AB-7F22-4A57-A163-3E898581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6FCEF-51EE-4FFE-A907-C9A14D0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3F0B2-AABC-48EE-ABD1-9093F26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1531F-8983-4035-9C58-CFA5DB25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B9346-A346-4756-BA07-9C0ED74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59950-2D42-4A48-B415-FA54B126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73AAC-9B37-4F2A-9943-D02372B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F9F04-952A-4407-A836-D2A586B7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474D7-9DC6-4313-86D5-BC05D175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D780C-2FCA-40A6-90F4-37BAFA23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58DB8-52AB-4040-9556-D351DCBB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2CF24-0DE9-4908-B7BA-636E3B3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C2790-2959-4EDD-B5F0-93F3FB3D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58D34-95B8-4855-AFAA-A05572CE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BDA5B-7ED8-45C0-BE90-CD8A86B6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6B83B-94A9-4FD7-97BE-8652BF2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3BD705-2D1F-449C-8E4F-ED59764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0B252C-D7D1-4901-B895-6D8CC06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PROJECT OVERVIEW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8EFC7-071C-4805-A2CE-AFD3C9E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47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RL Trading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7735EB-0DFB-4A37-A63B-CEF39F8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Reinforcement learning agents for market trading decisions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F442A-381A-4CA9-A415-A261ED38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E8661F-5E02-4C68-805D-6735F1AE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200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FastAPI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EE16DD-DA3B-4918-AA28-508AD01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19375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AB149-C52B-40C6-97CA-F381C8F3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1314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React + Vite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B19015-4D97-4DFE-9CBA-A60CEDF6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C9BCEA-AD4A-4C65-9B72-635F31A4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1200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Q-Learning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2808DE-D18C-448C-B025-66F0601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193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236DE8-1E8E-4EE1-9A5A-C3CB341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86050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DQN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FAB1B0-06D1-40FC-A2DD-CE79B06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1C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B42EA2-F9AF-4A9A-9742-28FA2CC1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9C441A-EB6D-4885-BAAC-19AED19F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Core backend agents/env files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1DEF5E-DD96-4F6A-A8DB-13F725E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671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1C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FCD295-8BDD-4C3B-8D8C-FDB9992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95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EF9CD3-71E1-412C-BC99-C961C94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00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Frontend pages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663E2A-07D5-4728-AFA4-3D50BC47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671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1C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C4B617-9224-46A3-BEBF-4EAC8FA4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804EEE-C079-4AFC-9201-A1EC68CE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00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Supported market tickers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1794FB-9B37-4DD7-A218-32B774A8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104900"/>
            <a:ext cx="3238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214D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1136A1-C854-4E75-9CCB-2A5E66B8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Team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91BA3C-E1D2-41A6-B6D8-86A99CCF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43AA6A-21FD-4693-B707-E26C598E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Ziad Hany Saeed Othman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9CACCF-93C2-4B25-9B1A-C4C7E3C4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20230120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3BDB71-0225-4F2A-B8DC-4C999FDA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DB391C-CA73-4550-BFA0-AE537CF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Ahmed Yasser Hassanein El-Azouk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594F4B-8DCC-4E72-99F4-0F83D8E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20230070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3DD059-B0D9-487E-A894-0D94581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D2252F-D1AA-4D96-BC04-1D26292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Omar Mohamed Qamar Eldawla Gomaa Gadallah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4E46C3-C79F-4612-B5F9-CD8998E7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20230218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BDBFB9-6264-4416-8D10-F27836F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The project turns market price history into an RL environment, trains an agent, then visualizes portfolio performance and buy/sell decisions in a dashboard.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DD5B77-1E1D-4DA9-9B7E-3FBB3ECB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09F060-1B59-4E62-97C0-2EF5114B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0E0E96-A1DA-4C1E-A661-99DC3E6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429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C7D91-A43D-4551-AC48-25DD6684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BEA88-AA55-466F-9698-D78D2F70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BAD7F-FD3E-43D5-B763-A08F319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F0FE9-A59E-4290-B8F3-C0F7A79C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1FB0F-98C4-44E3-A935-732D6CD6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AB774-C9B6-4ABC-B341-B1832A9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EB88C-E19D-4A8B-ACDF-544598A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969DC-ED48-40A6-A998-FCD70DA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B13D2-FB1A-4C1E-9796-C264568E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9F934-79E1-48CA-AC6A-48C1D4A2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37628-B648-4B94-894C-188F2C6F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24E6A-3FBA-427C-BA3D-E52B6F0C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AA39B-8F80-43AD-9143-1AEE74A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0E127-ECAD-4E54-9EA4-4D8F73C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51C8A-8C87-4D5B-B675-9C362647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CCF98-1175-4BE9-B191-8F7211A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91440-E04A-44FC-BF64-225AAB18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074AA-0461-480E-B428-2C9D7F1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5D0BF-A409-49D9-9933-D411FA3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E92D5-722A-46CF-8FC0-AF57BEF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1B07D-9C2A-41A2-92A4-3FBC81C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F4907-70C3-4DD5-9F3F-ECFDBBF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2E998-8B10-42CF-90CE-0863A3C6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9EA15-022B-40A8-A034-4E77647C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AF560-7013-4B21-BD14-87166C3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5D98C-11CA-4536-BFF6-AA09934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39EB5-5AA8-4ED1-B195-BB7BA48D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F615EA-6522-4840-9917-49422E9A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849820-2D65-467D-A125-9B5DE6C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PROBLEM AND 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DA0892-EC5F-474C-A048-A2C95E1B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The app frames trading as a learning problem, not a fixed rule strategy.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9D68A-F3BF-4A12-BB67-95F396E5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623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FF44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E71240-0283-4C81-9F57-BB8DD810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46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4466"/>
                </a:solidFill>
                <a:latin typeface="Aptos Display"/>
                <a:ea typeface="Aptos Display"/>
                <a:cs typeface="Aptos Display"/>
              </a:rPr>
              <a:t>Challenge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3375D-8A12-4BB5-A8D1-49CC7FEA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Markets move over time, so a simple static rule like always buy after a drop is weak. The system needs to test actions against changing prices and portfolio value.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ABFF7-C3EF-4648-A037-ED3C928D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Input: price history</a:t>
            </a:r>
          </a:p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Output: hold, buy, or sell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6C4E82-062F-4224-A842-1CFD7A31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1623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773A5-295A-4C1A-8A79-BDEC18F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RL Solution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58AB8A-FC3A-4D8C-9431-D70817E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The agent interacts with a trading environment. Each action changes cash, shares held, and reward. Over many episodes, the agent improves its choices.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3865F6-3EEA-47B0-85F8-A436D08D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Reward: profit, portfolio growth,</a:t>
            </a:r>
          </a:p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and penalty for invalid actions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AE8EB-BD0F-4482-8170-19DE9B9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F9ECF5-09A8-4693-BAB3-D23CD47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User Outcome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5C19E8-2364-4070-93C4-CA6BC1F4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194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The dashboard lets a user train, simulate, and compare strategy behavior using charts, signals, and portfolio statistics.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1CA189-4802-4A64-82B8-AF18CD7D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1790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Final value</a:t>
            </a:r>
          </a:p>
          <a:p xmlns:a="http://schemas.openxmlformats.org/drawingml/2006/main">
            <a:pPr algn="l">
              <a:def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Profit / loss</a:t>
            </a:r>
          </a:p>
          <a:p xmlns:a="http://schemas.openxmlformats.org/drawingml/2006/main">
            <a:pPr algn="l">
              <a:def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Return percent</a:t>
            </a:r>
          </a:p>
          <a:p xmlns:a="http://schemas.openxmlformats.org/drawingml/2006/main">
            <a:pPr algn="l">
              <a:def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Total trades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363CC8-6849-405A-9A10-5FA643B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A2F333-39E8-4D44-A5B7-D35C1035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106699-3519-41C6-B7EE-6DB7E9C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91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FEED07-EEB2-4D59-B317-948719B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435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Window of recent normalized prices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1C56B1-E062-44A2-995A-D07F838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435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F70331-C80A-4157-8313-FFED980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05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6EA703-EAA3-4CCF-A1B8-77B0956A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E0CDE6-B89E-47BC-90C6-93AAC493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53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2C4F8C-798A-4190-A299-82775660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91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E4E7D8-45C4-417B-95FA-3BC44D51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435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Hold, buy, or sell in the environment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0CFF04-E3ED-4925-A193-35FAC5B6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435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CABA0D-8758-4E36-8B34-2CC6294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05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386F5A-1237-492F-A4AE-B9BB20D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82FCEE-2FA0-49A6-9B15-3C86AFA2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53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A28852-1EF1-4A4A-AA0C-FB1450A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91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C40BD2-15D2-428F-9D30-67592DB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435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Update Q-table or neural network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A77741-459A-4FE9-858C-89050BE8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29659E-7C71-4169-AAA3-F9E43F10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B28ADF-DC4D-4C57-B204-DE2E6787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27786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429B9-9ED4-40A1-98CA-B1B0661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7CAC-3ADA-49F7-94B9-844C129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E80A1-E46E-4E86-93CE-CBD9DB6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B87BD-1028-4DDB-9A50-10DD8CB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67CD7-64FD-4BFB-8A1F-D6C7DF0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A0E38-850E-468F-8814-C39A63D4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8E290-176E-4291-9DBB-8AF6E5C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9F8E9-9C84-4246-BBB2-5A148F1C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A35F5-73B8-4D4A-B638-9079A018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6D014-46B1-4ABB-B890-E3A890D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10677-298D-49F5-95C6-DFA9C1C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8EDB1-9C32-4B57-8557-D93EA18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55FDF-8D87-4484-B44D-A35F261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8329C-973B-4B7F-BF01-D954325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2AC86-D9C9-45D7-8E85-22D727A2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F2A2B-0CF0-4B40-A725-E077F35A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1C58E-81B9-4351-AC29-1F1C3F8B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14CC9-5BA1-41B8-A8F1-FDAC9CD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1FCFE-13D2-4F60-A96A-5F5331B4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64207-560D-4FF5-9842-C513406B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70499-2A52-4043-A7AB-213E04CD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EFD7C-275A-4C5F-9FB2-B6D01A46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A6F81-72C8-4994-B2F5-F3747244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3FF89-C578-447B-A0FB-415D5963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68E7A-A926-4ED0-AFFE-63230583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D38DE-ACAE-4186-BD6E-491A9B3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C5186-97B4-4ADA-903A-E7076822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91B24-9054-4D73-9098-3C8C37F1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EC3EF6-98CC-4AC0-98B2-B8A453A6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SYSTEM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3FA23-93C0-433F-84AF-8C06A895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A small full-stack system connects market data, RL training, and dashboard feedback.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FAC0B-7A57-4E8D-8B95-11F38202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94D91-68A5-407C-8F85-286EC7AC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rPr>
              <a:t>Market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36551-34CA-4341-9D8B-09CD938F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Yahoo Finance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CoinGecko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Demo fallback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4E8462-B34E-4CAB-A355-E278B581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220C59-D231-4D9A-9918-1F80D896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2DE92-C2BB-43DF-9323-9EEA889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220559-936F-4755-824B-6F07A19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FastAPI 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F28E8-C016-439D-8FCA-50343863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train endpoint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status polling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simulate endpoint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AE6C40-AA40-4E5A-A9EF-3E50E35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ED9FC5-2FEB-4071-A06F-B3E53AE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6397F3-D788-4158-8C49-A71B8B87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D332D-A89E-4AD8-B933-06374398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rPr>
              <a:t>RL Core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9322BD-85B6-41F3-837F-8A5C0494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TradingEnv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QLearningAgent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DQNAgent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3F1A27-0515-4F51-A10A-F9BF4CEA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B6136A-CDB1-4E3A-9BAA-BCBC357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979300-3E31-4B83-940C-C02F8A6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68DEE0-9B2F-46ED-A5D4-F1D0C2B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React Frontend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EABFB-CE1C-43D7-AE08-7432579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controls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progress state</a:t>
            </a:r>
          </a:p>
          <a:p xmlns:a="http://schemas.openxmlformats.org/drawingml/2006/main">
            <a:pPr algn="l">
              <a:def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charts and stats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540E01-E32A-4C5F-A9B7-0C2DF67E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067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B"/>
          </a:solidFill>
          <a:ln xmlns:a="http://schemas.openxmlformats.org/drawingml/2006/main" w="9525">
            <a:solidFill>
              <a:srgbClr val="27586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1440B0-85FF-46F1-8546-F19B06C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Project directories: backend contains the API, data loader, trading environment, and agents. frontend contains the Vite/React app with the hero, dashboard, chart, and statistics views.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F2A79A-8938-462A-A5FE-0B9C0E3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53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75D784-B8C9-42B4-B014-7AA1F77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197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Python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09EA86-623E-48F5-9B2F-2C06A94C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531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AE29E7-DB8F-47EC-822E-732E1DAA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977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PyTorch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C753BC-AB9A-47E1-9A0F-AA6E29B9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53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463B8F-955C-4FF2-8B33-A95A8AE7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19775"/>
            <a:ext cx="1066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NumPy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D1B52A-BB77-46E9-B97C-C1AB2CF9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531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E629A0-A3DF-4C8E-A497-225592A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19775"/>
            <a:ext cx="1066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React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5C8F3F-4C56-4F3B-9F86-7A94C233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531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E4C88B-EA8C-4AD6-AF46-25E50B0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9775"/>
            <a:ext cx="1200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Recharts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6AD42D-0096-4F9C-B0A6-F49BB4CD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531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A9F8C5-1B4F-40FF-8599-DA561D68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19775"/>
            <a:ext cx="990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Tailwind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5CABFB-F416-45D9-919C-4DD4BAA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0D4AEA-62DE-4E2B-9E6A-E5568DFC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D29D43-BF59-4394-9B2F-68DC7034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74691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27171-E70F-4BD8-8CE0-092C7DF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03338-2B43-41AF-A6F2-A9F91B0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BB569-AED2-4401-A4B9-9593652C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0AEB6-503B-4554-8F9E-BCAA9F2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79672-074A-4EB8-AE5E-9604DC39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2218B-59A6-4A73-87FF-F76FFF8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F1FD2-EDB7-43C0-9353-87AAD67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2F774-478B-41F3-B2E6-4E1B0377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43A9F-325B-4509-9613-BBFC6E6F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8CD63-50C0-426B-A79A-5EBD14DD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D5C52-0173-4B83-B21B-B605082C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3FCDC-B126-46A2-A114-C470318B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18725-2685-4BE1-A28C-FA5E72D1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09252-F3C8-48E8-BC21-8D829A9F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2225B-6F64-41A5-926D-B302C935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72B6D-C5E9-477E-81C8-5018F787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85AFC-36CD-4483-AE9A-97AF865B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69804-8B53-4830-B4F3-5538CBF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195C3-A9C0-4EAF-B73B-0C0ED297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5F27A-561F-4C87-8D6D-4168E8C3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8F774-6679-4394-B698-86436C1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E9C79-7EC7-4C56-A186-4AD849F2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ED5A2-EBF4-4E45-B5B9-6DE6813D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2FB46-7C0D-491C-9D63-CEC475E4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EA869-1557-497C-BDC4-D9A78BA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3628B2-4130-4A01-A61F-05CE43B5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94147-E568-4ACC-9FAF-8E11277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BF3160-620D-4717-AB7C-E661522A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571D26-5A4F-4D09-9677-79D7D33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DATA AND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C66D9-3D68-4517-A6CE-0EAA815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The backend hides data reliability and long training behind simple API calls.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4EA23-CB42-4F29-878C-3C6DE37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476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BBFA3-98D3-415F-9EB1-51684BFD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rPr>
              <a:t>Data loader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A5940-B430-4576-B2C8-2771A18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load_data validates the ticker, tries the best external source, then falls back to deterministic demo prices if the network source fails.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96AA70-7E06-4E92-A99D-BADBB3C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Stocks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EC7BB-81E4-4897-8D32-602A0D8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21119-431C-4282-AD84-3F24431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121443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92252-4077-451B-8A8D-A4BC09EF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yfinance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0BCBEF-1C18-4B8E-89C9-C827EB2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Crypto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A2F12-A95F-4060-80EA-7B20979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957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CA5B6-04EC-414E-9870-0329E491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95750"/>
            <a:ext cx="1028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B08367-AF98-460C-8094-7481C20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481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CoinGecko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8D09B4-C7CA-4271-A17B-A5E3E315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Offline demo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4C20DC-15D2-4061-AC4E-44077221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148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07D548-DDE9-4B7A-8125-CDE7A35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148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DC1488-EC5A-481F-9F97-13C9C75F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672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CCF5E6-271A-427D-BEE4-C294744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4629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192783-61FD-4BEC-B1B7-4329DB5D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API contract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3409EC-DE8C-4C60-AC15-D03C3E8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FDE630-9412-4F4A-B69D-02EBA520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POST /rl-api/train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853719-D029-4862-84B3-9FE6827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starts background training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3CE5FB-2E4E-48F8-ACAE-C3041BEC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CC0306-F936-43D1-BF37-F69B84C3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GET /rl-api/train/status/{task_id}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48CC2B-B9F5-41AA-BB11-AE801AD5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052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returns progress and reward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8E8965-8B66-4CD2-B25B-089D4978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671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A77D41-33CD-4641-9038-6862BFCA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POST /rl-api/simulate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DCDA94-56A6-430C-BDBF-91D4D123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runs greedy simulation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5648A2-02C2-4409-8DE0-997E7279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924792-192F-4ADD-9367-8DADFAF7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GET /rl-api/healthz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FF6320-803F-4D04-942E-AC26498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server health 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3F1E55-BD6F-448A-8E86-A414D63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38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BFF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F5FBFF"/>
                </a:solidFill>
                <a:latin typeface="Aptos Mono"/>
                <a:ea typeface="Aptos Mono"/>
                <a:cs typeface="Aptos Mono"/>
              </a:rPr>
              <a:t>Supported tickers: AAPL  MSFT  GOOGL  BTC-USD  ETH-USD  TSLA  SPY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1418EE-4EE7-41CA-B0F2-CF2A1D7B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ABC0AC-F986-4D61-A035-52BAC900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1D7264-F73C-446E-81E5-044D2F4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32185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20D62-DD78-47FE-8382-7DAA8EA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9EBFB-01A1-4872-920A-28D37236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7FCC0-1BC8-43A9-9049-7F32EB62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60274-C37C-4F8D-8CB1-1DBF04C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3ADBD-0B15-4E2F-9499-6B6EF9BF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F3E8B-6853-4AB5-BB65-E36C401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07544-C6B7-4B5B-915C-48ABCBD6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FF339-AE58-425F-9BBB-9F7BF1D8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C8F19-2E85-4838-9ADD-ECC071B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B86BC-662C-48E0-ADCE-F82140ED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DAFAB-EC96-442E-B35F-FCFC2365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01CD7-0144-465C-AAF3-73CF58D5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C4E4E-D724-4E00-984B-332A59F8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EE979-E75F-4B70-8D90-C79A192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E1B3D-5502-430A-9B8F-F39552F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CE9EB-1ECD-465D-BC3F-7665634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0BA93-04FA-449A-BE88-6D7B6494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F6CF6-B9B4-436B-B2B7-649AD3B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8D6D8-5511-4C5E-907C-EBEB8E6F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24970-4398-48A4-AD13-96DEFE0E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A844-CD22-49F7-A3AB-3C7F708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DFE0A-364C-407A-A4FC-72801CA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5E2A2-2260-4A68-999F-DB784794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79C47-2AF3-4E52-8D5C-268368C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54E706-F675-4322-9558-20E76839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6EFEB-CEB0-4AD7-A2D5-BA761809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B39E2-8D67-47FE-AEE2-C13F11F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5560BE-1FF3-4C0B-9164-FD02A079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83DA76-495E-4908-9320-E7FEF4FE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TRADING ENVIRONMENT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9BEBE-D6A1-4F0A-BD0B-886195A1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TradingEnv turns price history into states, rewards, and episode progress.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6FBF53-0F6E-4842-909C-054EB4CC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992430-871B-497E-8971-A3AFB50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64AE1D-70B3-4CC1-BDCE-3734CE65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24724C-F935-494E-9358-F1182375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Last 10 normalized prices plus position indicator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AD0191-9FBD-48C0-8309-15253EFC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622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04EC0-6ED9-455F-B854-28A575BF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CD8DA3-17D5-4632-8A5C-611105F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5ABD71-6963-441D-970A-DBA22A67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717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EA6E60-7A2C-4B79-A1DE-8195054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2CF107-129C-4457-8D2C-D63EE321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622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0 = hold, 1 = buy, 2 = sell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00AF6-3A7A-4F92-9997-63E1D685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22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4AFEEF-C523-498E-AC1D-9DFFAFD3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E213E-20A1-47F1-89C4-2368815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383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2DCD65-8C2D-4A29-8BCF-CB4A7A90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717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2B7D09-7DA8-4CC5-B4D8-1274F33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3F7D14-3F79-4E36-A966-2D9AF3E4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Realized PnL, net worth change, invalid penalty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D34CAD-0DC2-41D3-A669-1CD406DA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5A627F-C7F9-4162-BABF-827B792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8C1C70-599D-4559-9D8D-A67F0A2E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38375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CFAA12-2445-4385-8FF3-6C5DA2B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717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47E3C5-3E41-4E6A-A764-0185B41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098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2AFF6B-3EBF-441E-BFDD-9F1BBC8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Episode ends near the end of price data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69CEE0-4F99-43B8-931C-206F969F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13F68C-ABD2-46E0-88C3-D7850FF2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State construction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65E5EE-9C68-416A-91E8-6EDA0CE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window = prices[current_step - window_size : current_step]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FA61A8-8613-4359-8868-4A98362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norm = window / window[0] - 1.0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E40B83-C53B-46B3-9A08-DC9EEC08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state = normalized_window + holding_position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693F85-3F27-4929-AB55-577BA7E7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388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89E41A-9CA3-438C-8EE3-C856662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rPr>
              <a:t>Reward idea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767C88-D7A6-4C40-AB24-B42E51F1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86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The reward pushes the agent toward profitable sells and rising portfolio value, while discouraging invalid actions such as selling without shares.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53E531-89B6-41A1-A1B7-FE1EAF5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149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portfolio = cash + held_shares * latest_price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A94724-2AFF-4959-ADDC-87F86F4B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E7A8DC-2655-4B0C-9885-5BA37E4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6994B9-69BD-4618-B4B0-E3300701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2592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7E30E-CE55-47AF-8A49-DFF1EF44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15D15-7223-4932-98F4-0FE4325C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40E91-17A5-4120-85C6-FFCE74ED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CD350-E70E-4A6A-9D8A-04415C63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967C8-2C2B-46FC-ACE6-2965B646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E2B03-FE0B-42E1-820A-340A2160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88A5C-7311-4946-B5AF-FF22CD1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20058-22AF-40CE-8A5E-6A711ED6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9FABE-AE32-4ABF-9219-0939745B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878E7-5D01-4DBD-B58F-4C39209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3B007-E965-4A53-92E6-B7362F49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F27E5-8099-494A-8584-F99A78B9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5FD80-CA50-4344-B6B2-2AA25720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26C24-3FA9-4B05-8D6E-C8ABCFFD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684E7-DF7A-4AF9-825B-981719B9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AF227-12AA-4A8B-B49B-86DCC597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71877-0A78-4D32-94D6-1EB7AC8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965C4-E2D0-4C70-AB84-2DA3235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F9CEB-B9C5-4338-81C4-4412D2AB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936D9-9616-4EE5-B2EC-3C1A6FDE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52B11-3442-4662-8CBB-6AFC8EFA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ADB0E-2EC3-4FE9-B3C9-C394002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74F6D-DE9A-43D3-8A2C-A2586152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4D740-6707-4A47-B4BF-1F9DBCE7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29CDE-6D37-487C-B385-9AFD9341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CEECC-772E-48B6-A0D4-EB56955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05DB7-8ECD-4040-8566-69CFE6F4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D36EC5-53EE-46C8-B555-D3BD303A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FEA33F-BF92-4BF7-8B9A-5274149D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LEARNING AGENTS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32EBC-3D44-4CE4-A994-CF0C71BD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The project compares a simple Q-table learner with a neural DQN learner.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9C8C1-324E-49C2-82E0-785014B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2E975-7D76-4C21-ADA5-859FACA5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rPr>
              <a:t>Q-Learning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91725-D044-4E16-A0F1-D72032C0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Best for understanding the RL logic. It discretizes the floating state into bins and stores action values in a dictionary.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EB8FF2-C6A0-4925-AB76-065C15D5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Learning speed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4F8E82-4255-4DC4-899E-BA88C8B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DD97D8-8BB7-4E43-95D7-DFCB5583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314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8067F7-DB1D-4D41-A10D-837776BE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52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fast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9C5F4A-C3A5-4C1D-B882-28E38930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Simplicity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AF63F7-4E96-4950-8A39-2140DF68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95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CEBD48-7554-4C7A-B444-E01744C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9550"/>
            <a:ext cx="1371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6ABD3F-CB5B-42F6-9687-D53903EF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71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CD2B69-DDA8-4602-B17C-A1E426D5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Continuous-state fit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13F04B-CDC8-44E5-BCBD-56043684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386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CE3AD2-DE97-481A-8F6A-B4D2A43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38650"/>
            <a:ext cx="64293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B2A863-2506-45B1-B14A-FFABB15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910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binned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9F788A-3C5A-47EF-AED0-3677B16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Formula: Q(s,a) &lt;- Q(s,a) + alpha * TD error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9D45C8-B5DD-4130-B89E-0931645C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DE9AB3-1AEF-4688-97F3-8F22601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Deep Q-Network 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79E734-2A48-406D-9320-2044B209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Better for richer states. It uses a PyTorch neural network, replay memory, a target network, and mini-batch updates.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81CF3F-8555-46F9-96AC-1416493B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State generalization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98794E-218E-4BB3-98AB-399C979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B225AB-5FC3-49B8-89AB-3E96E243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A024C3-EFE6-4D6A-A547-39F580C2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52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strong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997D8F-C5D5-4137-B766-1BE7C5B1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1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Training cost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D2B52F-63DA-495F-A440-BB5853BF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DF4177-A953-4768-AFF7-77D4CBCF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1028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CE60FC-C21F-439F-9559-F111D629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71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higher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61C1C4-08D5-4B99-B1B6-56B9B999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Stability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45D021-CDA3-4E57-844C-5DE112D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76D5F-C247-406F-90DC-889E5D9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4F8A90-143F-4105-80F3-30AECF22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910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replay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0F5F46-5EEB-4B02-80A2-B2E77993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Network: state -&gt; 128 -&gt; 64 -&gt; action Q-values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E35FF3-E647-4D14-9C80-DDAD0F72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AB07A0-CBD2-4380-BF4D-F717FB8E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68A1B0-0AAC-4FA5-8B4E-052A4978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5934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330A8-F325-4D14-BAAB-CDA3582F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30699-DA36-4865-885F-698FD6CA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6EB55-212B-4494-9AFD-7068C22A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802F7-902F-4010-A702-13E1E8F2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453C8-614C-4ECE-864E-04F977BF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9F1DA-DE09-4805-813B-6F59238E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3A14-98E0-4E6D-87FD-F595BEF2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99D44-FBC9-441C-95A0-2917FA11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E943B-991F-438E-A3C8-08A2250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266CA-3B61-47E6-AC84-2DFE328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9C130-5F0A-4956-AAE6-74FFC825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94CCE-B4A4-48B6-BEAD-0EB0EA6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0D657-4C19-4A36-8D63-60ACE04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603F7-E3DF-4285-9D85-2876ADF3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34375-4171-4F68-9609-ED0AF07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CBA8A-A8A6-4701-ADA7-46588A55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A04B-ABFC-4C63-A339-A09E58C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A73AB-CFE6-4D87-AE07-7B541DB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BB5C-BE3F-4BCF-BD51-6296F18E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9B43F-B71C-466A-953C-F559A579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AF1A9-7558-4361-A771-94015A7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D3861-C550-4529-99C2-40FF98C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70940-EF70-4C13-9C06-9799A9AB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CA71C-85E7-4E14-80B0-CB2B3F2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F5387-CF84-4B9E-B833-73560333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9FA59-CEDC-4606-AC13-9FE09BDF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ACA64-CF33-4114-8C4A-660BD05B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EB48D3B-2100-45C7-BB64-82BF0D8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BC3B6A-4D1D-42F9-A400-9C6FF91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TRAINING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A428E3-7D74-46D6-BEA2-C268D978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Training is asynchronous, episode-based, and visible to the frontend through polling.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EA285-5705-4354-9DCD-835F31C2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620F7-0063-4AFA-8ADB-D4387A02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3AC42-659D-480C-8150-A7F3A3A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User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BE622F-89E4-48B7-9237-995ADC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ticker, algorithm, episodes, period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771A4-D8AF-4A4D-B79A-F63CC08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24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66AE37-979D-4994-B5A7-72D5778D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1EF248-4CE9-40A8-9512-8A645281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BF97C8-9E27-4723-BCD8-B7E8343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0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B1C51-8C25-407B-8E02-7AA132F4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Background task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270CE-46C5-467A-8000-F1B4CD1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FastAPI starts run_training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9E700A-C25E-4F3A-951F-A2FF4D0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39077B-B8F4-4025-A8DD-63F9C7F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E77FF-32FD-4353-B1AE-C43FC725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4FB161-2554-4F79-A2E5-A15E919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2CFF32-4C15-4E43-B947-80BB71C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860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Episode loop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BE337F-91DA-4C88-9C50-6AED6F8F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reset env, act, step, learn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EAFB29-5766-43BF-B048-7112DD78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CC1C46-9851-42A7-85B6-F1A26C62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46BF40-A1E1-42D3-8F0C-BA192D9C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31858C-9952-4D0A-8835-AC74C528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DDD9B8-FAFD-4024-90E8-22FF08A8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Status update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DCAB27-076F-41FA-A861-83FA33C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progress, reward, data points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B23A42-9A6E-46C2-A05A-0A4B0A1D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633119-C60B-4803-B348-B9BF634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314F9D-FECF-434B-ACFE-124D67B8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FF44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5C85C5-6C55-467C-92E1-A0FE9983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466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446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0F39E0-BDD0-4871-87C0-811CA0D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Store agent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E41C5C-AFFE-426C-B4C3-567F8F63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86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trained_agents keyed by ticker + algorithm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928D4A-2505-4159-9212-A5487C73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B"/>
          </a:solidFill>
          <a:ln xmlns:a="http://schemas.openxmlformats.org/drawingml/2006/main" w="9525">
            <a:solidFill>
              <a:srgbClr val="2A5A6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6D95C6-B09C-4530-91F5-060D4A82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Exploration decreases after each episode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B0B637-4544-48F3-B547-AEC7A34D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epsilon starts high so the agent explores random actions. After each episode it decays toward epsilon_min, so the agent gradually relies more on learned behavior.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FEAFD8-67E6-495A-8EC4-2BEA6F0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FF2745-C7D6-4F0E-8C7F-A99C5FEB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F1CF1A-8AE5-494E-B38A-7ABE060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64199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F18DD-8E06-4494-BF89-F766B0B1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7FBEB-0029-46D9-A681-86653351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E49BB-E384-42F6-9F5E-7FC47A41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C63AB-DD4D-41D6-BBA8-5DDD0527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AB0B6-9E6C-4232-9E19-94D0E97B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D03A4-1A7D-46E5-90D0-8C08F3D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C14F5-DAA9-4E62-BAF6-2170FD15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7CCEE-1A47-4FE2-8947-57C5BAF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7C93C-0170-416B-8512-48A149B5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0A2B8-4BD9-4BAB-BDAC-811A2F0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1F11C-2E95-4657-B35F-1058909D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25A87-0330-47EE-B60B-60632923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6574B-8EF7-4BB4-A96D-AFA82C9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E417F-876B-4984-BAC4-4DBD14E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391AC-7A57-449D-BFB1-0FA2A8E7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3EB99-67C5-4ECF-B0E5-79243E8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F34CF-748B-423F-93C8-A5727208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FF642-8431-4B43-A30E-34491093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79B78-D2D0-4EDF-AA8A-1FAF4A4D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4A361-8B3B-40E8-8CE5-B317A7B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5759D-9CD6-4A9F-9D52-EFB5A9E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0BE1A-07CC-4A70-905E-693665F1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7CC74-C8F0-4BD1-BFE8-A5556269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64977-3227-45B0-85EA-17521327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AC8B9-B05C-41AA-A1E2-5E995C5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787D4-7739-4C8A-A1B9-1D6B86AD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F07E1-9D73-4149-856A-8C1D3AEB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A4F36B-7F63-4238-927F-CF13B14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B8CD14-3F5B-448E-8E85-11537BBE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FRONTEND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70C48-66B3-4E42-A1B0-A1FF9B0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The React interface guides the user from landing screen to training and simulation.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E732D-8E25-4475-B765-FF20C7B6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00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B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4B181-E7D7-406F-AC35-8EE482A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00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4"/>
          </a:solidFill>
          <a:ln xmlns:a="http://schemas.openxmlformats.org/drawingml/2006/main" w="0">
            <a:solidFill>
              <a:srgbClr val="0D1A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FD88B5-0298-46D9-89F3-32A1A16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RL TRADING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D1287-1401-41FB-B038-FA2BB8A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Q-LEARNING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5402C6-1AD4-42CF-8E3F-5F7EC0A2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050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DQN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F736F7-A14A-4EA4-A62A-199A722E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866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EB494F-002C-464A-B1DC-DAB0ADA1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Hero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BE396-3792-43F9-8761-FC92D10E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Canvas particle intro and ENTER DASHBOARD button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7A4512-DCC5-49AC-80AD-EADF47B4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866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2A4C9D-04A6-467B-A7B7-B58B94A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rPr>
              <a:t>Train 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F1ED62-1742-447B-8A06-C812139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Ticker, algorithm, episodes, and period controls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C54642-4591-4A5E-B8BA-2666632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866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72822C-55BE-46BF-B461-C9A3167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Simulation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CE7183-FA6F-4889-B665-F52424EA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Run trained agent greedily against the same period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D82F08-5C7D-4C52-BDBF-3929D2F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1866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A3AC17-04E9-4E86-AE43-AF5ED434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rPr>
              <a:t>Results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98355D-9E7D-499D-9CFB-9A48733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Portfolio stats, chart, buy and sell signals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885AA5-3419-488D-AE56-8A12B765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CD84F4-6820-4C58-AEEC-DCDA7A77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67275"/>
            <a:ext cx="990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App.tsx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283222-051F-4ADE-95B9-09DC2CBB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006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F6C465-F72C-42D4-A6DD-02C11D0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1085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Hero.tsx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B19743-A956-47CC-B0C1-8E73402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AE33F4-A9AD-476F-8562-11CC431F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6727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Dashboard.tsx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C3EE23-B2B6-465D-867A-2D80F54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0BC14D-5955-47D0-AC08-E87C6EA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1104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Chart.tsx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C48158-5AB6-4EB0-BB7F-E5567116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E17760-9C2A-44B0-99F7-10AE2C4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67275"/>
            <a:ext cx="1066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Stats.tsx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5E7F40-BC1C-44F9-97C7-9378ACA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31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The frontend keeps local state for training progress, errors, trained status, simulation loading, and returned chart data.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F7F66C-5A9A-4E4C-B582-B0CECFEC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6D21CE-7A43-4E37-AB34-CBC37F22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271344-3828-416F-BD40-B6059D6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72532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3E230-6749-49B6-B1EC-CF27E41B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4060B-C359-4D0B-9A14-C6046C54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26313-CCE4-48D7-9FB5-16C95EA7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C703-E099-41C4-88B9-0E3A790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0ADE4-A6F6-4F76-A69F-BB8D98B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EE01B-7239-41CF-B174-CF8073AC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FF0B5-3CC6-4D5B-B775-0F890A72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B8760-E78C-425C-A77E-5D599C07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39668-B1F2-4CD4-BDA2-701E3E2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371E5-7D0D-4A5A-B111-AE54BD61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60BAF-D45F-400C-AC2F-C18D28B2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77D78-E6E3-4483-978A-8EA4B3B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BFEB7-9F30-4A4C-A732-E78D619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5DCAD-221A-464F-9892-ECD028F3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9C948-1FE0-4F5E-9339-F8FA03D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70A13-57BC-4F09-83FF-46A7FCE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41857-ED56-4A8D-A191-A99BB5CC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72A1C-0451-4816-89C9-5CD303B1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78FAB-B5AA-458D-BB21-F8E13132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617A0-F3EB-4309-BCBA-B6ED18C5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D0EAE-7E5F-4A54-8C51-4AA51C25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230C8-29BA-4518-90EE-8CF48FC3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BB597-6B1E-4591-A488-7F5A41B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DA059-9E79-4D0F-9537-F86F9F2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7848D-F0D9-4911-B05C-A36BACC7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44826-80D4-477C-913F-CF340B9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E4E01-8773-434F-B810-20092EEA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774512-909B-4E38-BA3D-E8DC3847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FDBD16-D577-43E3-A689-84312F7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SIMULATION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C9CE4-DB87-48BA-9669-F6744C7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Simulation converts the trained policy into portfolio evidence the user can read.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986C5-524E-4104-A5FC-C548A38E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B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E964B-239A-43A1-B674-B8BFF0B1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Price and portfolio visualization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02779-5C21-47DA-ADB1-CDA33DA9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F2CC8-D449-4508-B314-4E39454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C76FC-1EA5-48A0-BAF3-AD542BD9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E7155E-10EF-4D48-9330-A92440EA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2888"/>
            <a:ext cx="17145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8805B7-8F8B-4CD6-AACB-E6FDD64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95725"/>
            <a:ext cx="171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C271F-42BF-48C6-929B-8F4DBB40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58590"/>
            <a:ext cx="1714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6117A-A1D6-4ED7-B107-32FF853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59518"/>
            <a:ext cx="171450" cy="869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703F60-002C-4E73-8BBD-8FAF180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3338"/>
            <a:ext cx="17145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245DFA-C725-482A-9059-74791FD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2833"/>
            <a:ext cx="171450" cy="1016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AC9A0B-F540-4F58-8B53-00F5AD4F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4743"/>
            <a:ext cx="171450" cy="974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950E4-F1F6-4692-8A2B-9F460006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76625"/>
            <a:ext cx="1714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49019C-FB19-4241-A2CD-FAEE406A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9968"/>
            <a:ext cx="171450" cy="10791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D355CB-D685-438B-BA35-0DEF3CB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171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A3A174-2AA1-4FB6-8F59-BB6E55C4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08985"/>
            <a:ext cx="171450" cy="13201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C9A3BA-FC96-4CA5-BA08-E455B68C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83255"/>
            <a:ext cx="171450" cy="1445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FB7667-A73E-46A8-ACAD-7CA8A31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19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1ADEBC-0ED8-4F18-A3D4-9205E96B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19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0DD42B-6D6D-4BB3-BE38-1BCDF66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003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Buy signal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AD6324-77EA-4353-B312-53844A7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003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F4466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FF4466"/>
                </a:solidFill>
                <a:latin typeface="Aptos Mono"/>
                <a:ea typeface="Aptos Mono"/>
                <a:cs typeface="Aptos Mono"/>
              </a:rPr>
              <a:t>Sell signal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469D13-E204-4467-B611-3E87298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Recharts renders price and portfolio series, while reference lines show where the trained agent bought or sold.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540DB2-C5FD-4DD4-A88F-5B860CC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6EC966-6ADE-4D8F-958A-A3E8A278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1C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50BDB1-16B3-4B00-A74D-20B9ED10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$10k+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29DC1B-B1CE-4249-98C6-4F99B025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Final portfolio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183A37-1085-4B9F-885D-7C548086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1C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C2D152-342F-4770-A13C-87B3913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+/- 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A0A547-73D2-49A2-BCB1-04B2804D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Return percentage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84305B-5852-4A69-9F20-E10045F7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1C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89B22C-3350-4917-BC77-BA06E6F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1A6313-BE62-49C4-BACA-701C0E4F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Total trades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09C87B-BE7A-42F5-945D-40865B50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Returned arrays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590148-AEBC-4307-8729-22A68B9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DFB5AD-DA32-40BE-8CB9-EE608069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E64E8E-2318-47D7-9594-5FF2353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600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prices + portfolio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722083-20BA-4CB0-A691-B7F6526A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Returned signals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AE04D3-EF0F-48AD-80CB-944F8165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019800"/>
            <a:ext cx="3714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53953C-322F-4355-8C9D-3481F4F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019800"/>
            <a:ext cx="24145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504BD5-E463-4459-9709-022B67E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962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buy/sell indexes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D32FAA-C9D0-4312-B98D-4AB35E7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2D3CCB-4501-459B-998F-69483E7B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A0D2B2-5358-41C1-9B0B-6B0EA25D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82732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56E1F-25B1-4458-9A61-713819AD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B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5B1A-0241-42CC-AD5A-922E111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2196F-3394-4CCF-A698-B872849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74A19-13D4-4C42-BC62-793BE9D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CFCBD-EC71-4436-8E8A-FFC731AE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AC86-F016-4839-B3BD-738F029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153B3-F9F7-4910-BE7D-C276B97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C4022-68C2-4F07-82AC-01367C09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47AB0-6FE8-4474-ACFA-B6EE0CD4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34CF3-6688-4D4C-85C4-3BB7A34E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852D9-FDAF-4CE4-B963-2C9F30C8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7F31B-CF25-4FF4-A834-5061921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29377-68FA-4655-94F4-CF74D721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931A8-9CF9-47BF-8759-F31EC3D3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EC3B6-6262-4693-A727-905F8EC1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B157B-469D-4C37-974C-A71C597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E5994-21A9-4993-B5AC-0D65205B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9DFE2-7D73-48BD-A76C-6F01E20E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16937-0E5A-4F49-951D-76D5D695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2154B-AF5D-4CCE-A2AF-D8CFC1D0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236D7-45C5-478B-B50E-968CBEB8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4D587-7D6B-43A9-A2B2-B21ED052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15170-8051-4706-9E91-5BBA120D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E4DCD-591C-4384-8E58-F9DE584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4CA31-99E7-4F05-8DA4-A28E8A0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64C1F-B362-4583-AB5C-91E1F644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0B9E0-B53B-402B-B120-CCA8FE1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6DEF37-B8F4-4BF6-8563-1D9036A8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AB3032-85E0-4E2B-B88C-04A1C2C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FINAL 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BB773-D6AD-49B7-9B06-99A070C5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The project demonstrates a complete RL workflow from data to decision visualization.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30D58-D2BC-4754-BF6A-ED5B1ACB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990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FB6F2-2477-43F3-AB06-70AEF79E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FF88"/>
                </a:solidFill>
                <a:latin typeface="Aptos Display"/>
                <a:ea typeface="Aptos Display"/>
                <a:cs typeface="Aptos Display"/>
              </a:rPr>
              <a:t>What works well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AFE1C-22A1-46F4-B033-CA433021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Clear RL loop, two learning approaches, simple API, frontend progress feedback, and readable simulation metrics.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C0331-4C0E-47BC-8BBA-EB8A48C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8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62657-DB54-4D47-829F-8401DC47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1104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88"/>
                </a:solidFill>
                <a:latin typeface="Aptos Mono"/>
                <a:ea typeface="Aptos Mono"/>
                <a:cs typeface="Aptos Mono"/>
              </a:rPr>
              <a:t>End-to-end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33F4C7-9F56-4C60-8793-F1BAD18E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052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D53414-7ECD-4026-95AE-4FF43C5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71925"/>
            <a:ext cx="952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Interactive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3F9C57-48CF-48B9-898D-40E3C6E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990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212AA8-8942-4564-B742-B5EAE83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C74F"/>
                </a:solidFill>
                <a:latin typeface="Aptos Display"/>
                <a:ea typeface="Aptos Display"/>
                <a:cs typeface="Aptos Display"/>
              </a:rPr>
              <a:t>Limitations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23DD5D-E58E-46F8-B7A9-43B63219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The system is educational. It has no transaction fees, no risk management, no benchmark comparison, and no model persistence across server restarts.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9C2B6B-D778-44DA-BBB2-9EFD1BF8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052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EABF4C-9926-4937-9BE9-4002AA63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1925"/>
            <a:ext cx="1104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9C74F"/>
                </a:solidFill>
                <a:latin typeface="Aptos Mono"/>
                <a:ea typeface="Aptos Mono"/>
                <a:cs typeface="Aptos Mono"/>
              </a:rPr>
              <a:t>No fees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24602F-24E9-41F6-AAC8-1274CD6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FF44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A0977C-0E48-448D-9A9C-20879166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71925"/>
            <a:ext cx="1009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4466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4466"/>
                </a:solidFill>
                <a:latin typeface="Aptos Mono"/>
                <a:ea typeface="Aptos Mono"/>
                <a:cs typeface="Aptos Mono"/>
              </a:rPr>
              <a:t>In-memory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11624D-AB26-4D02-AA32-E9A97C30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29908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D0B4D2-0071-4692-97A6-D9BBA1C7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Future work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A9453E-4FCE-4D4A-A079-DB64FA4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9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9B8"/>
                </a:solidFill>
                <a:latin typeface="Aptos"/>
                <a:ea typeface="Aptos"/>
                <a:cs typeface="Aptos"/>
              </a:rPr>
              <a:t>Add saved trained models, benchmark strategies, Sharpe ratio, drawdown, transaction costs, and richer features such as volume or technical indicators.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268F08-DBBB-4D11-BA9F-62E3D374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56348D-2CEE-467D-B7E9-0912B8B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71925"/>
            <a:ext cx="990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A78BFA"/>
                </a:solidFill>
                <a:latin typeface="Aptos Mono"/>
                <a:ea typeface="Aptos Mono"/>
                <a:cs typeface="Aptos Mono"/>
              </a:rPr>
              <a:t>Benchmarks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7F0898-401C-4F59-A50E-EBB2A4A5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1A"/>
          </a:solidFill>
          <a:ln xmlns:a="http://schemas.openxmlformats.org/drawingml/2006/main" w="9525">
            <a:solidFill>
              <a:srgbClr val="00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150AEE-567D-41E9-A74E-EA07081F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71925"/>
            <a:ext cx="1047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00FFFF"/>
                </a:solidFill>
                <a:latin typeface="Aptos Mono"/>
                <a:ea typeface="Aptos Mono"/>
                <a:cs typeface="Aptos Mono"/>
              </a:rPr>
              <a:t>Risk metrics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511E21-37EA-4C0B-9A1E-6FE40433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2B56E4-B716-427F-AF1E-B9FC794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66FC80-3B7A-4EFF-AC67-F36F4F8F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864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RL Trading System is a practical learning project: it makes reinforcement learning visible through training controls, status polling, simulation charts, and portfolio statistics.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E03988-EAA1-4CCA-B50D-DBDA2878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15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7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B58FE2-D90B-437D-B3B3-EB2C0BE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546877"/>
                </a:solidFill>
                <a:latin typeface="Aptos Mono"/>
                <a:ea typeface="Aptos Mono"/>
                <a:cs typeface="Aptos Mono"/>
              </a:rPr>
              <a:t>RL Trading Project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84DB2A-29B4-4266-800B-DF218B9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94A9B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9481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2026-05-15T18:24:08.9570000Z</dcterms:created>
  <dcterms:modified xsi:type="dcterms:W3CDTF">2026-05-15T18:24:08.9570000Z</dcterms:modified>
</coreProperties>
</file>